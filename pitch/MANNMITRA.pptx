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9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37760"/>
            <a:ext cx="12191695" cy="1920240"/>
          </a:xfrm>
          <a:prstGeom prst="rect">
            <a:avLst/>
          </a:prstGeom>
          <a:solidFill>
            <a:srgbClr val="0B7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Calibri"/>
              </a:rPr>
              <a:t>MANNMITRA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DF8F1"/>
                </a:solidFill>
                <a:latin typeface="Calibri"/>
              </a:rPr>
              <a:t>मन मित्र — a friend for your mind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A trust-first, tiered mental-health platform for college students.
The first step to feeling better shouldn't feel heavy.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Tiered support:  AI → Peer → Counselor → Crisis   |   Anonymous · No signup · 24×7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DF8F1"/>
                </a:solidFill>
                <a:latin typeface="Calibri"/>
              </a:rPr>
              <a:t>College Hackathon Round — Pitch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9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B6B6E"/>
                </a:solidFill>
                <a:latin typeface="Calibri"/>
              </a:rPr>
              <a:t>WHY EXISTING SYSTEMS FAIL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F2A2E"/>
                </a:solidFill>
                <a:latin typeface="Calibri"/>
              </a:rPr>
              <a:t>• Step 1 today is 'book a counselor' — feels heavy, like confessing.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A2E"/>
                </a:solidFill>
                <a:latin typeface="Calibri"/>
              </a:rPr>
              <a:t>• Students delay or never seek help because of stigma.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A2E"/>
                </a:solidFill>
                <a:latin typeface="Calibri"/>
              </a:rPr>
              <a:t>• ~15% of Indian students show depression symptoms (NIMHANS).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A2E"/>
                </a:solidFill>
                <a:latin typeface="Calibri"/>
              </a:rPr>
              <a:t>• Campus counselor shortage is real — can't be hired away.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A2E"/>
                </a:solidFill>
                <a:latin typeface="Calibri"/>
              </a:rPr>
              <a:t>• One-size-fits-all portals ignore the trust gap.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737360"/>
            <a:ext cx="5212080" cy="1143000"/>
          </a:xfrm>
          <a:prstGeom prst="rect">
            <a:avLst/>
          </a:prstGeom>
          <a:solidFill>
            <a:srgbClr val="0F9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47088"/>
            <a:ext cx="2011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~15%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1847088"/>
            <a:ext cx="29260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show depression symptoms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3063239"/>
            <a:ext cx="5212080" cy="1143000"/>
          </a:xfrm>
          <a:prstGeom prst="rect">
            <a:avLst/>
          </a:prstGeom>
          <a:solidFill>
            <a:srgbClr val="FD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3172967"/>
            <a:ext cx="2011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0B7D6C"/>
                </a:solidFill>
                <a:latin typeface="Calibri"/>
              </a:rPr>
              <a:t>1 in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172967"/>
            <a:ext cx="29260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2A2E"/>
                </a:solidFill>
                <a:latin typeface="Calibri"/>
              </a:rPr>
              <a:t>delay help due to stigma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4389120"/>
            <a:ext cx="5212080" cy="1143000"/>
          </a:xfrm>
          <a:prstGeom prst="rect">
            <a:avLst/>
          </a:prstGeom>
          <a:solidFill>
            <a:srgbClr val="FD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498848"/>
            <a:ext cx="2011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0B7D6C"/>
                </a:solidFill>
                <a:latin typeface="Calibri"/>
              </a:rPr>
              <a:t>Few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4498848"/>
            <a:ext cx="29260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F2A2E"/>
                </a:solidFill>
                <a:latin typeface="Calibri"/>
              </a:rPr>
              <a:t>campus counselors per 1000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109728"/>
          </a:xfrm>
          <a:prstGeom prst="rect">
            <a:avLst/>
          </a:prstGeom>
          <a:solidFill>
            <a:srgbClr val="0F9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B7D6C"/>
                </a:solidFill>
                <a:latin typeface="Calibri"/>
              </a:rPr>
              <a:t>Insight: Stigma isn't a counselor-shortage problem.
It's a FIRST-STEP problem.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F2A2E"/>
                </a:solidFill>
                <a:latin typeface="Calibri"/>
              </a:rPr>
              <a:t>Lower the first step to a 2-minute anonymous mood check-in — no login, no stranger.
Everything else (peer, counselor, crisis) builds from that moment of trust.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120640"/>
            <a:ext cx="10698480" cy="1005840"/>
          </a:xfrm>
          <a:prstGeom prst="rect">
            <a:avLst/>
          </a:prstGeom>
          <a:solidFill>
            <a:srgbClr val="0F9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257800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Heavy first step  →  nobody comes.   Light first step  →  trust  →  help scales.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9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Solution — 4 Trust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B6B6E"/>
                </a:solidFill>
                <a:latin typeface="Calibri"/>
              </a:rPr>
              <a:t>NOBODY HITS A DEAD 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697480" cy="4023360"/>
          </a:xfrm>
          <a:prstGeom prst="rect">
            <a:avLst/>
          </a:prstGeom>
          <a:solidFill>
            <a:srgbClr val="0F9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2423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1 · AI Companion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17520"/>
            <a:ext cx="24231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Anonymous 24/7. Mood check-ins, journaling, breathing. Detects severity, routes.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657600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B6B6E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828800"/>
            <a:ext cx="2697480" cy="4023360"/>
          </a:xfrm>
          <a:prstGeom prst="rect">
            <a:avLst/>
          </a:prstGeom>
          <a:solidFill>
            <a:srgbClr val="0B7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011680"/>
            <a:ext cx="2423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2 · Peer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017520"/>
            <a:ext cx="24231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Trained senior students ('Peer Listeners', NIMHANS/iCall module). Anonymous rooms.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3657600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B6B6E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59" y="1828800"/>
            <a:ext cx="2697480" cy="4023360"/>
          </a:xfrm>
          <a:prstGeom prst="rect">
            <a:avLst/>
          </a:prstGeom>
          <a:solidFill>
            <a:srgbClr val="E08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19" y="2011680"/>
            <a:ext cx="2423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3 · Counselor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19" y="3017520"/>
            <a:ext cx="24231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Book with only an anonymous ID to admin. Shared pool across colleges fixes shortage.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39" y="3657600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B6B6E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19" y="1828800"/>
            <a:ext cx="2697480" cy="4023360"/>
          </a:xfrm>
          <a:prstGeom prst="rect">
            <a:avLst/>
          </a:prstGeom>
          <a:solidFill>
            <a:srgbClr val="D64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79" y="2011680"/>
            <a:ext cx="2423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4 · Crisis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79" y="3017520"/>
            <a:ext cx="24231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One-tap helplines (iCall, Vandrevala, Tele-MANAS 14416). Auto-triggered on risk.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9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Live Demo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B6B6E"/>
                </a:solidFill>
                <a:latin typeface="Calibri"/>
              </a:rPr>
              <a:t>60-SECOND CLICKABLE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A2E"/>
                </a:solidFill>
                <a:latin typeface="Calibri"/>
              </a:rPr>
              <a:t>• Landing → 'Start anonymously' (no signup)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A2E"/>
                </a:solidFill>
                <a:latin typeface="Calibri"/>
              </a:rPr>
              <a:t>• Mood slider + 3 questions → rule-based triage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A2E"/>
                </a:solidFill>
                <a:latin typeface="Calibri"/>
              </a:rPr>
              <a:t>• Low/medium → routed to Peer Support room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A2E"/>
                </a:solidFill>
                <a:latin typeface="Calibri"/>
              </a:rPr>
              <a:t>• Type a risk phrase → Crisis overlay auto-triggers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A2E"/>
                </a:solidFill>
                <a:latin typeface="Calibri"/>
              </a:rPr>
              <a:t>• Crisis page → one-tap Tele-MANAS / iCall / Vandrevala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A2E"/>
                </a:solidFill>
                <a:latin typeface="Calibri"/>
              </a:rPr>
              <a:t>• Privacy page → anonymous ID, zero faculty/parent 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828800"/>
            <a:ext cx="3931920" cy="4206240"/>
          </a:xfrm>
          <a:prstGeom prst="rect">
            <a:avLst/>
          </a:prstGeom>
          <a:solidFill>
            <a:srgbClr val="FD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201168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7D6C"/>
                </a:solidFill>
                <a:latin typeface="Calibri"/>
              </a:rPr>
              <a:t>Try it live: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560320"/>
            <a:ext cx="35661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A2E"/>
                </a:solidFill>
                <a:latin typeface="Calibri"/>
              </a:rPr>
              <a:t>Open index.html → checkin.html
The triage engine (triage.js) is a pure function:
score({mood, text, answers})
  → severity: low | medium | high
  → route: self | peer | crisis
Same interface a real LLM slots into later.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9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B6B6E"/>
                </a:solidFill>
                <a:latin typeface="Calibri"/>
              </a:rPr>
              <a:t>FROM DEMO TO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2A2E"/>
                </a:solidFill>
                <a:latin typeface="Calibri"/>
              </a:rPr>
              <a:t>• Client: HTML/JS pages + global Crisis Overlay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2E"/>
                </a:solidFill>
                <a:latin typeface="Calibri"/>
              </a:rPr>
              <a:t>• Anonymous session store — zero PII (opaque anon_id)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2E"/>
                </a:solidFill>
                <a:latin typeface="Calibri"/>
              </a:rPr>
              <a:t>• 4 services: Triage · Peer Match · Booking · Crisis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1F2A2E"/>
                </a:solidFill>
                <a:latin typeface="Calibri"/>
              </a:rPr>
              <a:t>– Demo: rule-based triage + localStorage</a:t>
            </a:r>
          </a:p>
          <a:p>
            <a:pPr lvl="1">
              <a:spcAft>
                <a:spcPts val="800"/>
              </a:spcAft>
            </a:pPr>
            <a:r>
              <a:rPr sz="1500">
                <a:solidFill>
                  <a:srgbClr val="1F2A2E"/>
                </a:solidFill>
                <a:latin typeface="Calibri"/>
              </a:rPr>
              <a:t>– Prod: FastAPI + LLM (Gemini) behind score()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2E"/>
                </a:solidFill>
                <a:latin typeface="Calibri"/>
              </a:rPr>
              <a:t>• Data: hashed logs, TTL auto-delete, encrypted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2E"/>
                </a:solidFill>
                <a:latin typeface="Calibri"/>
              </a:rPr>
              <a:t>• Helpline registry: iCall / Vandrevala / Tele-MANAS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5212080" cy="4023360"/>
          </a:xfrm>
          <a:prstGeom prst="rect">
            <a:avLst/>
          </a:prstGeom>
          <a:solidFill>
            <a:srgbClr val="FD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9659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7D6C"/>
                </a:solidFill>
                <a:latin typeface="Calibri"/>
              </a:rPr>
              <a:t>Trust Funnel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2468880"/>
            <a:ext cx="4663440" cy="685800"/>
          </a:xfrm>
          <a:prstGeom prst="rect">
            <a:avLst/>
          </a:prstGeom>
          <a:solidFill>
            <a:srgbClr val="0F9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2468880"/>
            <a:ext cx="4297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Browser (anon)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3337560"/>
            <a:ext cx="4663440" cy="685800"/>
          </a:xfrm>
          <a:prstGeom prst="rect">
            <a:avLst/>
          </a:prstGeom>
          <a:solidFill>
            <a:srgbClr val="0B7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3337560"/>
            <a:ext cx="4297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API / BFF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4206240"/>
            <a:ext cx="4663440" cy="685800"/>
          </a:xfrm>
          <a:prstGeom prst="rect">
            <a:avLst/>
          </a:prstGeom>
          <a:solidFill>
            <a:srgbClr val="0F9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4206240"/>
            <a:ext cx="4297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Triage · Peer · Booking · Crisis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5074920"/>
            <a:ext cx="4663440" cy="685800"/>
          </a:xfrm>
          <a:prstGeom prst="rect">
            <a:avLst/>
          </a:prstGeom>
          <a:solidFill>
            <a:srgbClr val="0B7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5074920"/>
            <a:ext cx="4297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Encrypted Data Layer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9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Privacy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B6B6E"/>
                </a:solidFill>
                <a:latin typeface="Calibri"/>
              </a:rPr>
              <a:t>JUDGES ASK — WE SHOW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520440" cy="1783080"/>
          </a:xfrm>
          <a:prstGeom prst="rect">
            <a:avLst/>
          </a:prstGeom>
          <a:solidFill>
            <a:srgbClr val="FD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7D6C"/>
                </a:solidFill>
                <a:latin typeface="Calibri"/>
              </a:rPr>
              <a:t>Anonymous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3200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A2E"/>
                </a:solidFill>
                <a:latin typeface="Calibri"/>
              </a:rPr>
              <a:t>No name/email/phone. Opaque anon_id only.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1828800"/>
            <a:ext cx="3520440" cy="1783080"/>
          </a:xfrm>
          <a:prstGeom prst="rect">
            <a:avLst/>
          </a:prstGeom>
          <a:solidFill>
            <a:srgbClr val="FD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19659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7D6C"/>
                </a:solidFill>
                <a:latin typeface="Calibri"/>
              </a:rPr>
              <a:t>Blind booking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468880"/>
            <a:ext cx="3200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A2E"/>
                </a:solidFill>
                <a:latin typeface="Calibri"/>
              </a:rPr>
              <a:t>Admin sees ID + slot. No faculty/parent view.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19" y="1828800"/>
            <a:ext cx="3520440" cy="1783080"/>
          </a:xfrm>
          <a:prstGeom prst="rect">
            <a:avLst/>
          </a:prstGeom>
          <a:solidFill>
            <a:srgbClr val="FD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9" y="19659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7D6C"/>
                </a:solidFill>
                <a:latin typeface="Calibri"/>
              </a:rPr>
              <a:t>Local-first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9" y="2468880"/>
            <a:ext cx="3200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A2E"/>
                </a:solidFill>
                <a:latin typeface="Calibri"/>
              </a:rPr>
              <a:t>Check-in state stays on device.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840480"/>
            <a:ext cx="3520440" cy="1783080"/>
          </a:xfrm>
          <a:prstGeom prst="rect">
            <a:avLst/>
          </a:prstGeom>
          <a:solidFill>
            <a:srgbClr val="FD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7764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7D6C"/>
                </a:solidFill>
                <a:latin typeface="Calibri"/>
              </a:rPr>
              <a:t>Auto-purge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80560"/>
            <a:ext cx="3200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A2E"/>
                </a:solidFill>
                <a:latin typeface="Calibri"/>
              </a:rPr>
              <a:t>Hashed logs, short TTL in production.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79" y="3840480"/>
            <a:ext cx="3520440" cy="1783080"/>
          </a:xfrm>
          <a:prstGeom prst="rect">
            <a:avLst/>
          </a:prstGeom>
          <a:solidFill>
            <a:srgbClr val="FD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397764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7D6C"/>
                </a:solidFill>
                <a:latin typeface="Calibri"/>
              </a:rPr>
              <a:t>Consent-gated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9" y="4480560"/>
            <a:ext cx="3200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A2E"/>
                </a:solidFill>
                <a:latin typeface="Calibri"/>
              </a:rPr>
              <a:t>Identities revealed only by you.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19" y="3840480"/>
            <a:ext cx="3520440" cy="1783080"/>
          </a:xfrm>
          <a:prstGeom prst="rect">
            <a:avLst/>
          </a:prstGeom>
          <a:solidFill>
            <a:srgbClr val="FD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9" y="397764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7D6C"/>
                </a:solidFill>
                <a:latin typeface="Calibri"/>
              </a:rPr>
              <a:t>Encrypted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9" y="4480560"/>
            <a:ext cx="3200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2A2E"/>
                </a:solidFill>
                <a:latin typeface="Calibri"/>
              </a:rPr>
              <a:t>TLS + column-level encryption at rest.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9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Scalability &amp;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B6B6E"/>
                </a:solidFill>
                <a:latin typeface="Calibri"/>
              </a:rPr>
              <a:t>B2B2C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F2A2E"/>
                </a:solidFill>
                <a:latin typeface="Calibri"/>
              </a:rPr>
              <a:t>• Sell to colleges as a subscription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1F2A2E"/>
                </a:solidFill>
                <a:latin typeface="Calibri"/>
              </a:rPr>
              <a:t>– Cheaper than hiring 5 in-house counselors each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F2A2E"/>
                </a:solidFill>
                <a:latin typeface="Calibri"/>
              </a:rPr>
              <a:t>• Shared counselor pool across colleges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1F2A2E"/>
                </a:solidFill>
                <a:latin typeface="Calibri"/>
              </a:rPr>
              <a:t>– One network serves many campuses → solves shortage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F2A2E"/>
                </a:solidFill>
                <a:latin typeface="Calibri"/>
              </a:rPr>
              <a:t>• Peer volunteers self-replenish each batch</a:t>
            </a:r>
          </a:p>
          <a:p>
            <a:pPr lvl="1">
              <a:spcAft>
                <a:spcPts val="1000"/>
              </a:spcAft>
            </a:pPr>
            <a:r>
              <a:rPr sz="1700">
                <a:solidFill>
                  <a:srgbClr val="1F2A2E"/>
                </a:solidFill>
                <a:latin typeface="Calibri"/>
              </a:rPr>
              <a:t>– Near-free, compounding supply of listeners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F2A2E"/>
                </a:solidFill>
                <a:latin typeface="Calibri"/>
              </a:rPr>
              <a:t>• CSR / wellness-fund subsidies for low-income camps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5212080" cy="4023360"/>
          </a:xfrm>
          <a:prstGeom prst="rect">
            <a:avLst/>
          </a:prstGeom>
          <a:solidFill>
            <a:srgbClr val="0F9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01168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Unit economics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65176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• College pays per-student/yr subscription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• Counselor cost amortized across N colleges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• Peer layer = ~0 marginal cost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• Retention via trust, not forced signup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9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Why It's Credible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B6B6E"/>
                </a:solidFill>
                <a:latin typeface="Calibri"/>
              </a:rPr>
              <a:t>FRAMEWORKS &amp; TRUST ANCHORS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F2A2E"/>
                </a:solidFill>
                <a:latin typeface="Calibri"/>
              </a:rPr>
              <a:t>• Peer Listener certification aligned with NIMHANS &amp; iCall training frameworks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F2A2E"/>
                </a:solidFill>
                <a:latin typeface="Calibri"/>
              </a:rPr>
              <a:t>• Crisis routing uses verified national helplines: Tele-MANAS 14416, iCall (TISS), Vandrevala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F2A2E"/>
                </a:solidFill>
                <a:latin typeface="Calibri"/>
              </a:rPr>
              <a:t>• Anonymous-first mirrors global best practice (7 Cups, Crisis Text Line) adapted for India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F2A2E"/>
                </a:solidFill>
                <a:latin typeface="Calibri"/>
              </a:rPr>
              <a:t>• Resource library in Hindi + English — targets worse stigma in vernacular/non-metro contexts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F2A2E"/>
                </a:solidFill>
                <a:latin typeface="Calibri"/>
              </a:rPr>
              <a:t>• Safety built-in: high-risk language auto-escalates, never routes around crisis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9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Pilot with 3 colleges next semester — measure check-in → counselor conversion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Partnership intro to a telehealth/counselor network for the shared pool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FFFFFF"/>
                </a:solidFill>
                <a:latin typeface="Calibri"/>
              </a:rPr>
              <a:t>• Mentorship on campus wellness-fund / CSR funding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389120"/>
            <a:ext cx="10698480" cy="1463040"/>
          </a:xfrm>
          <a:prstGeom prst="rect">
            <a:avLst/>
          </a:prstGeom>
          <a:solidFill>
            <a:srgbClr val="0B7D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26280"/>
            <a:ext cx="103327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MANNMITRA — मन मित्र. A friend for your mind.
Light first step. Real trust. No dead ends.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DF8F1"/>
                </a:solidFill>
                <a:latin typeface="Calibri"/>
              </a:rPr>
              <a:t>Demo: mannmitra/index.html   ·   In crisis: 14416 (Tele-MANAS)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