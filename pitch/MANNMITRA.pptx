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37760"/>
            <a:ext cx="12191695" cy="1920240"/>
          </a:xfrm>
          <a:prstGeom prst="rect">
            <a:avLst/>
          </a:prstGeom>
          <a:solidFill>
            <a:srgbClr val="0B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Calibri"/>
              </a:rPr>
              <a:t>MANNMITRA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DF8F1"/>
                </a:solidFill>
                <a:latin typeface="Calibri"/>
              </a:rPr>
              <a:t>मन मित्र — a friend for your mind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A trust-first, tiered mental-health platform for college students.
The first step to feeling better shouldn't feel heavy.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AI → Peer → Counselor → Crisis   |   Anonymous · No signup · 24×7   |   EN / HI / MR / GU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DF8F1"/>
                </a:solidFill>
                <a:latin typeface="Calibri"/>
              </a:rPr>
              <a:t>College Hackathon Round — Pitch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B6B6E"/>
                </a:solidFill>
                <a:latin typeface="Calibri"/>
              </a:rPr>
              <a:t>WHY EXISTING SYSTEMS FAIL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1F2A2E"/>
                </a:solidFill>
                <a:latin typeface="Calibri"/>
              </a:rPr>
              <a:t>• Step 1 today is 'book a counselor' — feels heavy, like confessing.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2A2E"/>
                </a:solidFill>
                <a:latin typeface="Calibri"/>
              </a:rPr>
              <a:t>• Students delay or never seek help because of stigma.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2A2E"/>
                </a:solidFill>
                <a:latin typeface="Calibri"/>
              </a:rPr>
              <a:t>• ~15% of Indian students show depression symptoms (NIMHANS).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2A2E"/>
                </a:solidFill>
                <a:latin typeface="Calibri"/>
              </a:rPr>
              <a:t>• Campus counselor shortage is real — can't be hired away.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2A2E"/>
                </a:solidFill>
                <a:latin typeface="Calibri"/>
              </a:rPr>
              <a:t>• One-size-fits-all portals ignore the trust gap.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737360"/>
            <a:ext cx="5212080" cy="114300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47088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~15%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1847088"/>
            <a:ext cx="29260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show depression symptoms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3063239"/>
            <a:ext cx="5212080" cy="114300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3172967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7D6C"/>
                </a:solidFill>
                <a:latin typeface="Calibri"/>
              </a:rPr>
              <a:t>1 in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172967"/>
            <a:ext cx="29260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F2A2E"/>
                </a:solidFill>
                <a:latin typeface="Calibri"/>
              </a:rPr>
              <a:t>delay help due to stigma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4389120"/>
            <a:ext cx="5212080" cy="114300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4498848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0B7D6C"/>
                </a:solidFill>
                <a:latin typeface="Calibri"/>
              </a:rPr>
              <a:t>Few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4498848"/>
            <a:ext cx="29260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F2A2E"/>
                </a:solidFill>
                <a:latin typeface="Calibri"/>
              </a:rPr>
              <a:t>campus counselors per 1000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698480" cy="109728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0B7D6C"/>
                </a:solidFill>
                <a:latin typeface="Calibri"/>
              </a:rPr>
              <a:t>Insight: Stigma isn't a counselor-shortage problem.
It's a FIRST-STEP problem.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F2A2E"/>
                </a:solidFill>
                <a:latin typeface="Calibri"/>
              </a:rPr>
              <a:t>Lower the first step to a 2-minute anonymous mood check-in — no login, no stranger.
Everything else (peer, counselor, crisis) builds from that moment of trust.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120640"/>
            <a:ext cx="10698480" cy="100584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257800"/>
            <a:ext cx="103327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Heavy first step  →  nobody comes.   Light first step  →  trust  →  help scales.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The Solution — 4 Trust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B6B6E"/>
                </a:solidFill>
                <a:latin typeface="Calibri"/>
              </a:rPr>
              <a:t>NOBODY HITS A DEAD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2697480" cy="40233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2423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1 · AI Companion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17520"/>
            <a:ext cx="2423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Anonymous 24/7. Mood check-ins, journaling, breathing. Detects severity, routes.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657600"/>
            <a:ext cx="228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5B6B6E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828800"/>
            <a:ext cx="2697480" cy="4023360"/>
          </a:xfrm>
          <a:prstGeom prst="rect">
            <a:avLst/>
          </a:prstGeom>
          <a:solidFill>
            <a:srgbClr val="0B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2011680"/>
            <a:ext cx="2423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2 · Peer 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017520"/>
            <a:ext cx="2423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Trained senior students ('Peer Listeners', NIMHANS/iCall module). Anonymous rooms.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657600"/>
            <a:ext cx="228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5B6B6E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59" y="1828800"/>
            <a:ext cx="2697480" cy="4023360"/>
          </a:xfrm>
          <a:prstGeom prst="rect">
            <a:avLst/>
          </a:prstGeom>
          <a:solidFill>
            <a:srgbClr val="E0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19" y="2011680"/>
            <a:ext cx="2423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3 · Counselor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19" y="3017520"/>
            <a:ext cx="2423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Book with only an anonymous ID to admin. Shared pool across colleges fixes shortage.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39" y="3657600"/>
            <a:ext cx="228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5B6B6E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19" y="1828800"/>
            <a:ext cx="2697480" cy="4023360"/>
          </a:xfrm>
          <a:prstGeom prst="rect">
            <a:avLst/>
          </a:prstGeom>
          <a:solidFill>
            <a:srgbClr val="D64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79" y="2011680"/>
            <a:ext cx="2423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4 · Crisis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79" y="3017520"/>
            <a:ext cx="2423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One-tap helplines (iCall, Vandrevala, Tele-MANAS 14416). Auto-triggered on risk.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Full Product — What's Inside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B6B6E"/>
                </a:solidFill>
                <a:latin typeface="Calibri"/>
              </a:rPr>
              <a:t>ONE PROTOTYPE, MANY SURFACES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5577840" cy="603504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28216"/>
            <a:ext cx="5394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F2A2E"/>
                </a:solidFill>
                <a:latin typeface="Calibri"/>
              </a:rPr>
              <a:t>🤖 AI triage  —  mood + 3 Q's → severity &amp; routing (LLM-ready)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404872"/>
            <a:ext cx="5577840" cy="603504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441448"/>
            <a:ext cx="5394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F2A2E"/>
                </a:solidFill>
                <a:latin typeface="Calibri"/>
              </a:rPr>
              <a:t>🤝 Peer support  —  anonymous rooms + 1:1 listener + chat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118104"/>
            <a:ext cx="5577840" cy="603504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54680"/>
            <a:ext cx="5394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F2A2E"/>
                </a:solidFill>
                <a:latin typeface="Calibri"/>
              </a:rPr>
              <a:t>🎨 Dashboard  —  mood chart, streak, badges, insights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831336"/>
            <a:ext cx="5577840" cy="603504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394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F2A2E"/>
                </a:solidFill>
                <a:latin typeface="Calibri"/>
              </a:rPr>
              <a:t>📝 Journal &amp; 🫂 CBT  —  private entries + thought record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544568"/>
            <a:ext cx="5577840" cy="603504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581144"/>
            <a:ext cx="5394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F2A2E"/>
                </a:solidFill>
                <a:latin typeface="Calibri"/>
              </a:rPr>
              <a:t>🧭 Breathing  —  animated 4-4-4-4 box breathing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257800"/>
            <a:ext cx="5577840" cy="603504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5294376"/>
            <a:ext cx="5394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F2A2E"/>
                </a:solidFill>
                <a:latin typeface="Calibri"/>
              </a:rPr>
              <a:t>💬 Community  —  anonymous feed + kind reactions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1691640"/>
            <a:ext cx="5577840" cy="603504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1728216"/>
            <a:ext cx="5394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F2A2E"/>
                </a:solidFill>
                <a:latin typeface="Calibri"/>
              </a:rPr>
              <a:t>🚨 SOS button  —  hold-to-call → crisis overlay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2404872"/>
            <a:ext cx="5577840" cy="603504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2441448"/>
            <a:ext cx="5394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F2A2E"/>
                </a:solidFill>
                <a:latin typeface="Calibri"/>
              </a:rPr>
              <a:t>🧑 Counselor + Admin  —  shared pool, anon ledger, impact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3118104"/>
            <a:ext cx="5577840" cy="603504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3154680"/>
            <a:ext cx="5394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F2A2E"/>
                </a:solidFill>
                <a:latin typeface="Calibri"/>
              </a:rPr>
              <a:t>🌍 i18n EN/HI/MR/GU  —  language switch across app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3831336"/>
            <a:ext cx="5577840" cy="603504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3867912"/>
            <a:ext cx="5394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F2A2E"/>
                </a:solidFill>
                <a:latin typeface="Calibri"/>
              </a:rPr>
              <a:t>🌙 Dark + Contrast  —  themes persisted locally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544568"/>
            <a:ext cx="5577840" cy="603504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4581144"/>
            <a:ext cx="5394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F2A2E"/>
                </a:solidFill>
                <a:latin typeface="Calibri"/>
              </a:rPr>
              <a:t>🛡 Privacy + My Data  —  delete-all, admin-blind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5257800"/>
            <a:ext cx="5577840" cy="603504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5294376"/>
            <a:ext cx="5394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F2A2E"/>
                </a:solidFill>
                <a:latin typeface="Calibri"/>
              </a:rPr>
              <a:t>⚙ Gamification  —  streaks &amp; achievement badges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Product Preview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B6B6E"/>
                </a:solidFill>
                <a:latin typeface="Calibri"/>
              </a:rPr>
              <a:t>WHAT YOU'LL SEE IN THE DEMO</a:t>
            </a:r>
          </a:p>
        </p:txBody>
      </p:sp>
      <p:pic>
        <p:nvPicPr>
          <p:cNvPr id="6" name="Picture 5" descr="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371600"/>
            <a:ext cx="10972800" cy="42974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" y="6126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B6B6E"/>
                </a:solidFill>
                <a:latin typeface="Calibri"/>
              </a:rPr>
              <a:t>Six core surfaces — all anonymous, all offline-capable, all installable as a PWA.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Live Demo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B6B6E"/>
                </a:solidFill>
                <a:latin typeface="Calibri"/>
              </a:rPr>
              <a:t>60-SECOND CLICKABLE 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>
                <a:solidFill>
                  <a:srgbClr val="1F2A2E"/>
                </a:solidFill>
                <a:latin typeface="Calibri"/>
              </a:rPr>
              <a:t>• Landing → 'Start anonymously' (no signup, onboarding tour)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1F2A2E"/>
                </a:solidFill>
                <a:latin typeface="Calibri"/>
              </a:rPr>
              <a:t>• Mood slider + 3 questions → rule-based triage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1F2A2E"/>
                </a:solidFill>
                <a:latin typeface="Calibri"/>
              </a:rPr>
              <a:t>• Low/medium → routed to Peer Support room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1F2A2E"/>
                </a:solidFill>
                <a:latin typeface="Calibri"/>
              </a:rPr>
              <a:t>• Type a risk phrase → Crisis overlay auto-triggers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1F2A2E"/>
                </a:solidFill>
                <a:latin typeface="Calibri"/>
              </a:rPr>
              <a:t>• SOS hold-to-call button → instant helplines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1F2A2E"/>
                </a:solidFill>
                <a:latin typeface="Calibri"/>
              </a:rPr>
              <a:t>• Dashboard: streak, badges, 'lowest on Monday' insight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1F2A2E"/>
                </a:solidFill>
                <a:latin typeface="Calibri"/>
              </a:rPr>
              <a:t>• CBT + Community + Counselor/Admin + Privacy 'My Data'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60" y="1828800"/>
            <a:ext cx="3931920" cy="420624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B7D6C"/>
                </a:solidFill>
                <a:latin typeface="Calibri"/>
              </a:rPr>
              <a:t>Try it live: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560320"/>
            <a:ext cx="356616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A2E"/>
                </a:solidFill>
                <a:latin typeface="Calibri"/>
              </a:rPr>
              <a:t>Open index.html → checkin.html
triage.js is a pure function:
score({mood, text, answers})
  → severity: low | medium | high
  → route: self | peer | crisis
Same interface a real LLM slots into later.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B6B6E"/>
                </a:solidFill>
                <a:latin typeface="Calibri"/>
              </a:rPr>
              <a:t>FROM DEMO TO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F2A2E"/>
                </a:solidFill>
                <a:latin typeface="Calibri"/>
              </a:rPr>
              <a:t>• Client: HTML/JS + global Crisis/SOS overlay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2E"/>
                </a:solidFill>
                <a:latin typeface="Calibri"/>
              </a:rPr>
              <a:t>• Anonymous session store — zero PII (opaque anon_id)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2E"/>
                </a:solidFill>
                <a:latin typeface="Calibri"/>
              </a:rPr>
              <a:t>• 4 services: Triage · Peer Match · Booking · Crisis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1F2A2E"/>
                </a:solidFill>
                <a:latin typeface="Calibri"/>
              </a:rPr>
              <a:t>– Demo: rule-based triage + localStorage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1F2A2E"/>
                </a:solidFill>
                <a:latin typeface="Calibri"/>
              </a:rPr>
              <a:t>– Prod: FastAPI + LLM (Gemini) behind score()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2E"/>
                </a:solidFill>
                <a:latin typeface="Calibri"/>
              </a:rPr>
              <a:t>• Data: hashed logs, TTL auto-delete, encrypted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2E"/>
                </a:solidFill>
                <a:latin typeface="Calibri"/>
              </a:rPr>
              <a:t>• Helpline registry: iCall / Vandrevala / Tele-MANAS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828800"/>
            <a:ext cx="5212080" cy="402336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9659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B7D6C"/>
                </a:solidFill>
                <a:latin typeface="Calibri"/>
              </a:rPr>
              <a:t>Trust Funnel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2468880"/>
            <a:ext cx="4663440" cy="68580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2468880"/>
            <a:ext cx="4297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Browser (anon)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3337560"/>
            <a:ext cx="4663440" cy="685800"/>
          </a:xfrm>
          <a:prstGeom prst="rect">
            <a:avLst/>
          </a:prstGeom>
          <a:solidFill>
            <a:srgbClr val="0B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3337560"/>
            <a:ext cx="4297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API / BFF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4206240"/>
            <a:ext cx="4663440" cy="68580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4206240"/>
            <a:ext cx="4297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Triage · Peer · Booking · Crisis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5074920"/>
            <a:ext cx="4663440" cy="685800"/>
          </a:xfrm>
          <a:prstGeom prst="rect">
            <a:avLst/>
          </a:prstGeom>
          <a:solidFill>
            <a:srgbClr val="0B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5074920"/>
            <a:ext cx="4297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Encrypted Data Layer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Privacy &amp; Safety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B6B6E"/>
                </a:solidFill>
                <a:latin typeface="Calibri"/>
              </a:rPr>
              <a:t>JUDGES ASK — WE SHOW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2670048" cy="178308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7D6C"/>
                </a:solidFill>
                <a:latin typeface="Calibri"/>
              </a:rPr>
              <a:t>Anonymous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2377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A2E"/>
                </a:solidFill>
                <a:latin typeface="Calibri"/>
              </a:rPr>
              <a:t>No name/email/phone. Opaque anon_id only.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0128" y="1828800"/>
            <a:ext cx="2670048" cy="178308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3008" y="196596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7D6C"/>
                </a:solidFill>
                <a:latin typeface="Calibri"/>
              </a:rPr>
              <a:t>Blind booking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2468880"/>
            <a:ext cx="2377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A2E"/>
                </a:solidFill>
                <a:latin typeface="Calibri"/>
              </a:rPr>
              <a:t>Admin sees ID + slot. No faculty/parent view.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63056" y="1828800"/>
            <a:ext cx="2670048" cy="178308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5936" y="196596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7D6C"/>
                </a:solidFill>
                <a:latin typeface="Calibri"/>
              </a:rPr>
              <a:t>Local-first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5936" y="2468880"/>
            <a:ext cx="2377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A2E"/>
                </a:solidFill>
                <a:latin typeface="Calibri"/>
              </a:rPr>
              <a:t>Check-in state stays on device.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15984" y="1828800"/>
            <a:ext cx="2670048" cy="178308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98864" y="196596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7D6C"/>
                </a:solidFill>
                <a:latin typeface="Calibri"/>
              </a:rPr>
              <a:t>Auto-purge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98864" y="2468880"/>
            <a:ext cx="2377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A2E"/>
                </a:solidFill>
                <a:latin typeface="Calibri"/>
              </a:rPr>
              <a:t>Hashed logs, short TTL in production.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2670048" cy="178308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776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7D6C"/>
                </a:solidFill>
                <a:latin typeface="Calibri"/>
              </a:rPr>
              <a:t>Consent-gated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80560"/>
            <a:ext cx="2377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A2E"/>
                </a:solidFill>
                <a:latin typeface="Calibri"/>
              </a:rPr>
              <a:t>Identities revealed only by you.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10128" y="3840480"/>
            <a:ext cx="2670048" cy="178308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93008" y="39776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7D6C"/>
                </a:solidFill>
                <a:latin typeface="Calibri"/>
              </a:rPr>
              <a:t>Encrypted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4480560"/>
            <a:ext cx="2377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A2E"/>
                </a:solidFill>
                <a:latin typeface="Calibri"/>
              </a:rPr>
              <a:t>TLS + column-level encryption at rest.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63056" y="3840480"/>
            <a:ext cx="2670048" cy="178308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45936" y="39776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7D6C"/>
                </a:solidFill>
                <a:latin typeface="Calibri"/>
              </a:rPr>
              <a:t>🚨 SOS + Crisis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5936" y="4480560"/>
            <a:ext cx="2377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A2E"/>
                </a:solidFill>
                <a:latin typeface="Calibri"/>
              </a:rPr>
              <a:t>High-risk language auto-escalates, never routes around.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15984" y="3840480"/>
            <a:ext cx="2670048" cy="1783080"/>
          </a:xfrm>
          <a:prstGeom prst="rect">
            <a:avLst/>
          </a:prstGeom>
          <a:solidFill>
            <a:srgbClr val="FD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98864" y="39776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7D6C"/>
                </a:solidFill>
                <a:latin typeface="Calibri"/>
              </a:rPr>
              <a:t>🌍 Multilingual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8864" y="4480560"/>
            <a:ext cx="2377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A2E"/>
                </a:solidFill>
                <a:latin typeface="Calibri"/>
              </a:rPr>
              <a:t>Stigma is worse vernacular — EN/HI/MR/GU.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Built for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B6B6E"/>
                </a:solidFill>
                <a:latin typeface="Calibri"/>
              </a:rPr>
              <a:t>MULTILINGUAL + ACCESSIBLE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• Language switcher: English, Hindi, Marathi, Gujarati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• Resource library published in all four languages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• Crisis keywords detected across languages in triage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• Stigma is worse in vernacular, non-metro contexts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• High-contrast mode + keyboard focus + ARIA labels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• Dark mode for late-night, low-stimulation 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828800"/>
            <a:ext cx="5212080" cy="384048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10312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Languages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74320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English  — EN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Hindi  — हिन्दी  (HI)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Marathi  — मराठी  (MR)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Gujarati  — ગુજરાતી  (GU)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Scalability &amp;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B6B6E"/>
                </a:solidFill>
                <a:latin typeface="Calibri"/>
              </a:rPr>
              <a:t>B2B2C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• Sell to colleges as a subscription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– Cheaper than hiring 5 in-house counselors each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• Shared counselor pool across colleges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– One network serves many campuses → solves shortage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• Peer volunteers self-replenish each batch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– Near-free, compounding supply of listeners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F2A2E"/>
                </a:solidFill>
                <a:latin typeface="Calibri"/>
              </a:rPr>
              <a:t>• CSR / wellness-fund subsidies for low-income camps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828800"/>
            <a:ext cx="5212080" cy="40233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01168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Unit economics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651760"/>
            <a:ext cx="4846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College pays per-student/yr subscription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Counselor cost amortized across N colleges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Peer layer = ~0 marginal cost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Retention via trust, not forced signup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Impact (Demo Metrics)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B6B6E"/>
                </a:solidFill>
                <a:latin typeface="Calibri"/>
              </a:rPr>
              <a:t>WHAT SUCCESS LOOKS LIKE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3383280" cy="17373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3383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Colleges onboarded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828800"/>
            <a:ext cx="3383280" cy="1737360"/>
          </a:xfrm>
          <a:prstGeom prst="rect">
            <a:avLst/>
          </a:prstGeom>
          <a:solidFill>
            <a:srgbClr val="0B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01168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38,200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834640"/>
            <a:ext cx="3383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Lives reached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59" y="1828800"/>
            <a:ext cx="3383280" cy="17373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9" y="201168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1,284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59" y="2834640"/>
            <a:ext cx="3383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Check-ins (30d)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840480"/>
            <a:ext cx="3383280" cy="1737360"/>
          </a:xfrm>
          <a:prstGeom prst="rect">
            <a:avLst/>
          </a:prstGeom>
          <a:solidFill>
            <a:srgbClr val="0B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2336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612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3383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Routed to peer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3840480"/>
            <a:ext cx="3383280" cy="17373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02336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298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846320"/>
            <a:ext cx="3383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Routed to counselor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59" y="3840480"/>
            <a:ext cx="3383280" cy="1737360"/>
          </a:xfrm>
          <a:prstGeom prst="rect">
            <a:avLst/>
          </a:prstGeom>
          <a:solidFill>
            <a:srgbClr val="0B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402336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59" y="4846320"/>
            <a:ext cx="3383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Crisis escalations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Why It's Credible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B6B6E"/>
                </a:solidFill>
                <a:latin typeface="Calibri"/>
              </a:rPr>
              <a:t>FRAMEWORKS &amp; TRUST ANCHORS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F2A2E"/>
                </a:solidFill>
                <a:latin typeface="Calibri"/>
              </a:rPr>
              <a:t>• Peer Listener certification aligned with NIMHANS &amp; iCall training frameworks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2E"/>
                </a:solidFill>
                <a:latin typeface="Calibri"/>
              </a:rPr>
              <a:t>• Crisis routing uses verified national helplines: Tele-MANAS 14416, iCall (TISS), Vandrevala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2E"/>
                </a:solidFill>
                <a:latin typeface="Calibri"/>
              </a:rPr>
              <a:t>• Anonymous-first mirrors global best practice (7 Cups, Crisis Text Line) adapted for India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2E"/>
                </a:solidFill>
                <a:latin typeface="Calibri"/>
              </a:rPr>
              <a:t>• Resource library in Hindi, English, Marathi &amp; Gujarati — targets worse vernacular stigma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F2A2E"/>
                </a:solidFill>
                <a:latin typeface="Calibri"/>
              </a:rPr>
              <a:t>• Safety built-in: high-risk language auto-escalates, never routes around crisis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9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Pilot with 3 colleges next semester — measure check-in → counselor conversion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Partnership intro to a telehealth/counselor network for the shared pool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Mentorship on campus wellness-fund / CSR funding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389120"/>
            <a:ext cx="10698480" cy="1463040"/>
          </a:xfrm>
          <a:prstGeom prst="rect">
            <a:avLst/>
          </a:prstGeom>
          <a:solidFill>
            <a:srgbClr val="0B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26280"/>
            <a:ext cx="10332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MANNMITRA — मन मित्‍र. A friend for your mind.
Light first step. Real trust. No dead ends.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DF8F1"/>
                </a:solidFill>
                <a:latin typeface="Calibri"/>
              </a:rPr>
              <a:t>Demo: mannmitra/index.html   ·   In crisis: 14416 (Tele-MANAS)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